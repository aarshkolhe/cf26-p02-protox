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ac859277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ac859277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ac859277c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ac859277c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ac859277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ac859277c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ac859277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ac859277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ac859277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ac859277c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ac859277c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ac859277c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ac859277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ac859277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1747"/>
            <a:ext cx="9144000" cy="2998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6475" y="0"/>
            <a:ext cx="1127525" cy="50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0" y="2976650"/>
            <a:ext cx="34000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2"/>
                </a:solidFill>
              </a:rPr>
              <a:t>Team Name: </a:t>
            </a:r>
            <a:r>
              <a:rPr lang="en-GB" sz="1800" dirty="0">
                <a:solidFill>
                  <a:schemeClr val="dk2"/>
                </a:solidFill>
              </a:rPr>
              <a:t>ProtoX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002125" y="2976650"/>
            <a:ext cx="28000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2"/>
                </a:solidFill>
              </a:rPr>
              <a:t>Problem Code: </a:t>
            </a:r>
            <a:r>
              <a:rPr lang="en-GB" sz="1800">
                <a:solidFill>
                  <a:schemeClr val="dk2"/>
                </a:solidFill>
              </a:rPr>
              <a:t>P-02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0" y="3400850"/>
            <a:ext cx="86868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2"/>
                </a:solidFill>
              </a:rPr>
              <a:t>Problem Statement Title: </a:t>
            </a:r>
            <a:r>
              <a:rPr lang="en-GB" sz="1400">
                <a:solidFill>
                  <a:schemeClr val="dk2"/>
                </a:solidFill>
              </a:rPr>
              <a:t>Distributed Transaction Coordinator for Human-in-the-Loop Workflows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0" y="3925050"/>
            <a:ext cx="86868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2"/>
                </a:solidFill>
              </a:rPr>
              <a:t>Team Members: </a:t>
            </a:r>
            <a:r>
              <a:rPr lang="en-GB" sz="1400">
                <a:solidFill>
                  <a:schemeClr val="dk2"/>
                </a:solidFill>
              </a:rPr>
              <a:t>Aarsh Kolhe, Atharva Ramteke, Durgesh Kubde, Ganesh Mishra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0" y="4780000"/>
            <a:ext cx="60000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2"/>
                </a:solidFill>
              </a:rPr>
              <a:t>College / Institution: </a:t>
            </a:r>
            <a:r>
              <a:rPr lang="en-GB" sz="1400">
                <a:solidFill>
                  <a:schemeClr val="dk2"/>
                </a:solidFill>
              </a:rPr>
              <a:t>Jhulelal Institute of Technology</a:t>
            </a:r>
            <a:endParaRPr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0" y="0"/>
            <a:ext cx="18507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</a:rPr>
              <a:t>The Problem</a:t>
            </a: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723122" y="1525529"/>
            <a:ext cx="6300000" cy="3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1" dirty="0">
                <a:solidFill>
                  <a:schemeClr val="dk2"/>
                </a:solidFill>
              </a:rPr>
              <a:t>In our own words: </a:t>
            </a:r>
            <a:r>
              <a:rPr lang="en-GB" sz="1400" dirty="0">
                <a:solidFill>
                  <a:schemeClr val="dk2"/>
                </a:solidFill>
              </a:rPr>
              <a:t>Business workflows span independent systems, but traditional distributed transactions assume fast, deterministic participants — human approvals break that assumption.</a:t>
            </a:r>
            <a:endParaRPr sz="14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1" dirty="0">
                <a:solidFill>
                  <a:schemeClr val="dk2"/>
                </a:solidFill>
              </a:rPr>
              <a:t>Real-world context: </a:t>
            </a:r>
            <a:r>
              <a:rPr lang="en-GB" sz="1400" dirty="0">
                <a:solidFill>
                  <a:schemeClr val="dk2"/>
                </a:solidFill>
              </a:rPr>
              <a:t>Processes like vendor onboarding, procurement, and reimbursement route work through CRM, payment, inventory, and approval systems with no unified coordinator.</a:t>
            </a:r>
            <a:endParaRPr sz="14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1" dirty="0">
                <a:solidFill>
                  <a:schemeClr val="dk2"/>
                </a:solidFill>
              </a:rPr>
              <a:t>Who is affected: </a:t>
            </a:r>
            <a:r>
              <a:rPr lang="en-GB" sz="1400" dirty="0">
                <a:solidFill>
                  <a:schemeClr val="dk2"/>
                </a:solidFill>
              </a:rPr>
              <a:t>Operations and finance teams, approvers, IT teams building automation, and vendors or employees waiting on delayed workflows.</a:t>
            </a:r>
            <a:endParaRPr sz="14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1" dirty="0">
                <a:solidFill>
                  <a:schemeClr val="dk2"/>
                </a:solidFill>
              </a:rPr>
              <a:t>Why existing approaches fall short: </a:t>
            </a:r>
            <a:r>
              <a:rPr lang="en-GB" sz="1400" dirty="0">
                <a:solidFill>
                  <a:schemeClr val="dk2"/>
                </a:solidFill>
              </a:rPr>
              <a:t>Two-phase commit assumes fast responses and locks resources; job queues lack compensation logic; ad hoc scripts can't recover from partial failure.</a:t>
            </a:r>
            <a:endParaRPr sz="14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1" dirty="0">
                <a:solidFill>
                  <a:schemeClr val="dk2"/>
                </a:solidFill>
              </a:rPr>
              <a:t>Problem statement: </a:t>
            </a:r>
            <a:r>
              <a:rPr lang="en-GB" sz="1400" dirty="0">
                <a:solidFill>
                  <a:schemeClr val="dk2"/>
                </a:solidFill>
              </a:rPr>
              <a:t>Build a coordinator that reliably orchestrates multi-system workflows containing human approval checkpoints, with durability, idempotency, and recoverable compensation.</a:t>
            </a:r>
            <a:endParaRPr sz="14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0" y="0"/>
            <a:ext cx="42105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</a:rPr>
              <a:t>Problem Decomposition 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1834634" y="1421451"/>
            <a:ext cx="6300000" cy="3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1">
                <a:solidFill>
                  <a:schemeClr val="dk2"/>
                </a:solidFill>
              </a:rPr>
              <a:t>Core technical problem: </a:t>
            </a:r>
            <a:r>
              <a:rPr lang="en-GB" sz="1400">
                <a:solidFill>
                  <a:schemeClr val="dk2"/>
                </a:solidFill>
              </a:rPr>
              <a:t>Orchestrating a saga-style transaction where individual steps can pause on human input for hours or days.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1">
                <a:solidFill>
                  <a:schemeClr val="dk2"/>
                </a:solidFill>
              </a:rPr>
              <a:t>Assumptions: </a:t>
            </a:r>
            <a:r>
              <a:rPr lang="en-GB" sz="1400">
                <a:solidFill>
                  <a:schemeClr val="dk2"/>
                </a:solidFill>
              </a:rPr>
              <a:t>Services expose idempotent APIs; approvals arrive through a defined channel; failures are transient and retryable.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1">
                <a:solidFill>
                  <a:schemeClr val="dk2"/>
                </a:solidFill>
              </a:rPr>
              <a:t>Known constraints: </a:t>
            </a:r>
            <a:r>
              <a:rPr lang="en-GB" sz="1400">
                <a:solidFill>
                  <a:schemeClr val="dk2"/>
                </a:solidFill>
              </a:rPr>
              <a:t>Durable execution, idempotency, saga compensation, approval checkpoints, timeout handling, partial-failure recovery, full execution history.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1">
                <a:solidFill>
                  <a:schemeClr val="dk2"/>
                </a:solidFill>
              </a:rPr>
              <a:t>Important edge cases: </a:t>
            </a:r>
            <a:r>
              <a:rPr lang="en-GB" sz="1400">
                <a:solidFill>
                  <a:schemeClr val="dk2"/>
                </a:solidFill>
              </a:rPr>
              <a:t>Duplicate approvals, unavailable approvers, mid-step service outages, crash-and-resume, concurrent workflows on shared resources.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What makes it difficult: </a:t>
            </a:r>
            <a:r>
              <a:rPr lang="en-GB" sz="1400">
                <a:solidFill>
                  <a:schemeClr val="dk2"/>
                </a:solidFill>
              </a:rPr>
              <a:t>Waiting on a human can't be treated like an RPC call — the system must suspend cleanly and resume safely, however long the wait or whatever fails in between.</a:t>
            </a:r>
            <a:endParaRPr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0" y="0"/>
            <a:ext cx="42105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</a:rPr>
              <a:t>Research &amp; Prior Art (Optional)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1611610" y="1570134"/>
            <a:ext cx="6300000" cy="3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Existing approaches: </a:t>
            </a:r>
            <a:r>
              <a:rPr lang="en-GB" sz="1400">
                <a:solidFill>
                  <a:schemeClr val="dk2"/>
                </a:solidFill>
              </a:rPr>
              <a:t>Temporal.io, AWS Step Functions, Camunda/BPMN engines, and classic two-phase commit protocols.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Relevant papers / systems: </a:t>
            </a:r>
            <a:r>
              <a:rPr lang="en-GB" sz="1400">
                <a:solidFill>
                  <a:schemeClr val="dk2"/>
                </a:solidFill>
              </a:rPr>
              <a:t>Garcia-Molina &amp; Salem's Sagas (1987); Temporal's workflow-as-code model; AWS Step Functions state machines.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What they do well: </a:t>
            </a:r>
            <a:r>
              <a:rPr lang="en-GB" sz="1400">
                <a:solidFill>
                  <a:schemeClr val="dk2"/>
                </a:solidFill>
              </a:rPr>
              <a:t>Durable execution, automatic retries, and visual state tracking at proven scale.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Where they fail here: </a:t>
            </a:r>
            <a:r>
              <a:rPr lang="en-GB" sz="1400">
                <a:solidFill>
                  <a:schemeClr val="dk2"/>
                </a:solidFill>
              </a:rPr>
              <a:t>Heavyweight to configure for a hackathon scope; not purpose-built for unbounded human-wait steps with explicit timeout/escalation policy.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Our identified gap: </a:t>
            </a:r>
            <a:r>
              <a:rPr lang="en-GB" sz="1400">
                <a:solidFill>
                  <a:schemeClr val="dk2"/>
                </a:solidFill>
              </a:rPr>
              <a:t>A lightweight coordinator purpose-built for human-in-the-loop workflows, with approval timeouts and compensation as first-class concepts.</a:t>
            </a:r>
            <a:endParaRPr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0" y="0"/>
            <a:ext cx="42105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</a:rPr>
              <a:t>Proposed Approach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1670250" y="1510661"/>
            <a:ext cx="6300000" cy="3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Solution concept: </a:t>
            </a:r>
            <a:r>
              <a:rPr lang="en-GB" sz="1400">
                <a:solidFill>
                  <a:schemeClr val="dk2"/>
                </a:solidFill>
              </a:rPr>
              <a:t>A durable, saga-based coordinator where every step has a matching compensating action, and state is persisted after each transition.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Key idea: </a:t>
            </a:r>
            <a:r>
              <a:rPr lang="en-GB" sz="1400">
                <a:solidFill>
                  <a:schemeClr val="dk2"/>
                </a:solidFill>
              </a:rPr>
              <a:t>Treat human approval as just another async step — the coordinator suspends and resumes on external events, exactly like it does for a slow API.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Major components: </a:t>
            </a:r>
            <a:r>
              <a:rPr lang="en-GB" sz="1400">
                <a:solidFill>
                  <a:schemeClr val="dk2"/>
                </a:solidFill>
              </a:rPr>
              <a:t>Coordinator engine, durable state store, idempotent service executor, approval layer, timeout scheduler, compensation runner, audit log.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What's novel: </a:t>
            </a:r>
            <a:r>
              <a:rPr lang="en-GB" sz="1400">
                <a:solidFill>
                  <a:schemeClr val="dk2"/>
                </a:solidFill>
              </a:rPr>
              <a:t>Built explicitly around unbounded human wait times, with timeout policies and full visibility into why a workflow succeeded or failed.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Core workflow: </a:t>
            </a:r>
            <a:r>
              <a:rPr lang="en-GB" sz="1400">
                <a:solidFill>
                  <a:schemeClr val="dk2"/>
                </a:solidFill>
              </a:rPr>
              <a:t>Trigger → step execution → service call → human approval (pause) → complete or compensate → audit trail.</a:t>
            </a:r>
            <a:endParaRPr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0" y="0"/>
            <a:ext cx="42105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</a:rPr>
              <a:t>System Architecture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1729723" y="1327119"/>
            <a:ext cx="6500000" cy="3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Components: </a:t>
            </a:r>
            <a:r>
              <a:rPr lang="en-GB" sz="1400">
                <a:solidFill>
                  <a:schemeClr val="dk2"/>
                </a:solidFill>
              </a:rPr>
              <a:t>Coordinator engine, state store, service adapters, approval service, timeout scheduler, compensation engine, dashboard UI.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Data flow: </a:t>
            </a:r>
            <a:r>
              <a:rPr lang="en-GB" sz="1400">
                <a:solidFill>
                  <a:schemeClr val="dk2"/>
                </a:solidFill>
              </a:rPr>
              <a:t>Trigger → coordinator reads/writes state → service adapter call → result persisted → approval request → decision or timeout → resume → complete/compensate.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APIs/services: </a:t>
            </a:r>
            <a:r>
              <a:rPr lang="en-GB" sz="1400">
                <a:solidFill>
                  <a:schemeClr val="dk2"/>
                </a:solidFill>
              </a:rPr>
              <a:t>REST endpoints to trigger workflows, submit approvals, and query status; adapter interfaces per external system.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Storage: </a:t>
            </a:r>
            <a:r>
              <a:rPr lang="en-GB" sz="1400">
                <a:solidFill>
                  <a:schemeClr val="dk2"/>
                </a:solidFill>
              </a:rPr>
              <a:t>Postgres tables for workflow instances, step history, idempotency keys, and the audit log.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Models/algorithms: </a:t>
            </a:r>
            <a:r>
              <a:rPr lang="en-GB" sz="1400">
                <a:solidFill>
                  <a:schemeClr val="dk2"/>
                </a:solidFill>
              </a:rPr>
              <a:t>Saga pattern with a compensation graph; delayed-job queue for timeout scheduling; deterministic conflict resolution.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External dependencies: </a:t>
            </a:r>
            <a:r>
              <a:rPr lang="en-GB" sz="1400">
                <a:solidFill>
                  <a:schemeClr val="dk2"/>
                </a:solidFill>
              </a:rPr>
              <a:t>Simulated CRM/payment/inventory services and a notification channel (email/webhook) for approvals.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Security boundaries: </a:t>
            </a:r>
            <a:r>
              <a:rPr lang="en-GB" sz="1400">
                <a:solidFill>
                  <a:schemeClr val="dk2"/>
                </a:solidFill>
              </a:rPr>
              <a:t>Role-based authorization for approvals, signed idempotency keys, append-only audit log.</a:t>
            </a:r>
            <a:endParaRPr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0" y="0"/>
            <a:ext cx="28620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</a:rPr>
              <a:t>Innovation &amp; Impact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1437675" y="460000"/>
            <a:ext cx="6600000" cy="4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2"/>
                </a:solidFill>
              </a:rPr>
              <a:t>Innovation</a:t>
            </a:r>
            <a:endParaRPr sz="1600" b="1">
              <a:solidFill>
                <a:schemeClr val="dk2"/>
              </a:solidFill>
            </a:endParaRPr>
          </a:p>
          <a:p>
            <a:pPr marL="0" lvl="0" indent="32000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2"/>
                </a:solidFill>
              </a:rPr>
              <a:t>What's genuinely different: </a:t>
            </a:r>
            <a:r>
              <a:rPr lang="en-GB" sz="1300">
                <a:solidFill>
                  <a:schemeClr val="dk2"/>
                </a:solidFill>
              </a:rPr>
              <a:t>Most workflow engines assume fast, synchronous participants — this formalizes human wait as a first-class, resumable async step.</a:t>
            </a:r>
            <a:endParaRPr sz="1300">
              <a:solidFill>
                <a:schemeClr val="dk2"/>
              </a:solidFill>
            </a:endParaRPr>
          </a:p>
          <a:p>
            <a:pPr marL="0" lvl="0" indent="32000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2"/>
                </a:solidFill>
              </a:rPr>
              <a:t>Why it's better: </a:t>
            </a:r>
            <a:r>
              <a:rPr lang="en-GB" sz="1300">
                <a:solidFill>
                  <a:schemeClr val="dk2"/>
                </a:solidFill>
              </a:rPr>
              <a:t>Gives durability and recovery guarantees to human-involved workflows without needing a heavyweight external engine.</a:t>
            </a:r>
            <a:endParaRPr sz="1300">
              <a:solidFill>
                <a:schemeClr val="dk2"/>
              </a:solidFill>
            </a:endParaRPr>
          </a:p>
          <a:p>
            <a:pPr marL="0" lvl="0" indent="32000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2"/>
                </a:solidFill>
              </a:rPr>
              <a:t>Technical insight: </a:t>
            </a:r>
            <a:r>
              <a:rPr lang="en-GB" sz="1300">
                <a:solidFill>
                  <a:schemeClr val="dk2"/>
                </a:solidFill>
              </a:rPr>
              <a:t>The same saga/compensation machinery can uniformly handle both machine and human failures, once approval is modeled as just another idempotent step.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2"/>
                </a:solidFill>
              </a:rPr>
              <a:t>Impact</a:t>
            </a:r>
            <a:endParaRPr sz="1600" b="1">
              <a:solidFill>
                <a:schemeClr val="dk2"/>
              </a:solidFill>
            </a:endParaRPr>
          </a:p>
          <a:p>
            <a:pPr marL="0" lvl="0" indent="32000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2"/>
                </a:solidFill>
              </a:rPr>
              <a:t>Who would use it: </a:t>
            </a:r>
            <a:r>
              <a:rPr lang="en-GB" sz="1300">
                <a:solidFill>
                  <a:schemeClr val="dk2"/>
                </a:solidFill>
              </a:rPr>
              <a:t>Teams automating multi-system processes with approval gates — finance, procurement, HR onboarding, healthcare admin.</a:t>
            </a:r>
            <a:endParaRPr sz="1300">
              <a:solidFill>
                <a:schemeClr val="dk2"/>
              </a:solidFill>
            </a:endParaRPr>
          </a:p>
          <a:p>
            <a:pPr marL="0" lvl="0" indent="32000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2"/>
                </a:solidFill>
              </a:rPr>
              <a:t>Where it could deploy: </a:t>
            </a:r>
            <a:r>
              <a:rPr lang="en-GB" sz="1300">
                <a:solidFill>
                  <a:schemeClr val="dk2"/>
                </a:solidFill>
              </a:rPr>
              <a:t>As an internal platform service sitting behind existing CRM, ERP, and ticketing systems.</a:t>
            </a:r>
            <a:endParaRPr sz="1300">
              <a:solidFill>
                <a:schemeClr val="dk2"/>
              </a:solidFill>
            </a:endParaRPr>
          </a:p>
          <a:p>
            <a:pPr marL="0" lvl="0" indent="32000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2"/>
                </a:solidFill>
              </a:rPr>
              <a:t>Measurable benefit: </a:t>
            </a:r>
            <a:r>
              <a:rPr lang="en-GB" sz="1300">
                <a:solidFill>
                  <a:schemeClr val="dk2"/>
                </a:solidFill>
              </a:rPr>
              <a:t>Less manual status tracking, fewer silently-lost approvals, faster recovery from failures, full auditability for compliance.</a:t>
            </a:r>
            <a:endParaRPr sz="1300">
              <a:solidFill>
                <a:schemeClr val="dk2"/>
              </a:solidFill>
            </a:endParaRPr>
          </a:p>
          <a:p>
            <a:pPr marL="0" lvl="0" indent="32000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2"/>
                </a:solidFill>
              </a:rPr>
              <a:t>Beyond prototype: </a:t>
            </a:r>
            <a:r>
              <a:rPr lang="en-GB" sz="1300">
                <a:solidFill>
                  <a:schemeClr val="dk2"/>
                </a:solidFill>
              </a:rPr>
              <a:t>Production-grade persistence and scaling, real integration adapters, robust auth, and monitoring/alerting.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/>
        </p:nvSpPr>
        <p:spPr>
          <a:xfrm>
            <a:off x="0" y="0"/>
            <a:ext cx="28707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</a:rPr>
              <a:t>References (Optional)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20"/>
          <p:cNvSpPr txBox="1"/>
          <p:nvPr/>
        </p:nvSpPr>
        <p:spPr>
          <a:xfrm>
            <a:off x="1797463" y="1596900"/>
            <a:ext cx="6300000" cy="2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Research papers: </a:t>
            </a:r>
            <a:r>
              <a:rPr lang="en-GB" sz="1400">
                <a:solidFill>
                  <a:schemeClr val="dk2"/>
                </a:solidFill>
              </a:rPr>
              <a:t>Garcia-Molina, H. &amp; Salem, K. (1987). Sagas.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Standards: </a:t>
            </a:r>
            <a:r>
              <a:rPr lang="en-GB" sz="1400">
                <a:solidFill>
                  <a:schemeClr val="dk2"/>
                </a:solidFill>
              </a:rPr>
              <a:t>BPMN 2.0 workflow modeling standard.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Datasets: </a:t>
            </a:r>
            <a:r>
              <a:rPr lang="en-GB" sz="1400">
                <a:solidFill>
                  <a:schemeClr val="dk2"/>
                </a:solidFill>
              </a:rPr>
              <a:t>Synthetic demo data (no external dataset used).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APIs: </a:t>
            </a:r>
            <a:r>
              <a:rPr lang="en-GB" sz="1400">
                <a:solidFill>
                  <a:schemeClr val="dk2"/>
                </a:solidFill>
              </a:rPr>
              <a:t>Mock REST APIs simulating CRM, payment, and inventory services.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Open-source projects: </a:t>
            </a:r>
            <a:r>
              <a:rPr lang="en-GB" sz="1400">
                <a:solidFill>
                  <a:schemeClr val="dk2"/>
                </a:solidFill>
              </a:rPr>
              <a:t>Temporal.io, Netflix Conductor, Camunda (referenced for pattern inspiration).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2"/>
                </a:solidFill>
              </a:rPr>
              <a:t>Other sources: </a:t>
            </a:r>
            <a:r>
              <a:rPr lang="en-GB" sz="1400">
                <a:solidFill>
                  <a:schemeClr val="dk2"/>
                </a:solidFill>
              </a:rPr>
              <a:t>AWS Step Functions documentation; Azure Architecture Center's Saga pattern guide.</a:t>
            </a:r>
            <a:endParaRPr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On-screen Show (16:9)</PresentationFormat>
  <Paragraphs>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Atharva</dc:creator>
  <cp:lastModifiedBy>atharva ramteke</cp:lastModifiedBy>
  <cp:revision>1</cp:revision>
  <dcterms:modified xsi:type="dcterms:W3CDTF">2026-08-24T17:27:40Z</dcterms:modified>
</cp:coreProperties>
</file>